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8325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introducing the project as a response to a real operational challenge Cotiviti faces: the volume and velocity of healthcare policy content. Set the tone as a strategic consulting-style assessment, not an academic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categories of healthcare content and emphasize why each is uniquely difficult — volume, density, and constant revision. This sets up the case for AI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explain each trend in one sentence. Emphasize that these are not speculative — LLMs, RAG, and rule extraction are deployed in production healthcare settings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show balanced thinking. Don't oversell AI — acknowledge the real risks, especially hallucination and compliance, which directly justifies the human-in-the-loop recommendation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strategic recommendation. Walk through the pipeline left to right. Pause on 'Human Review' — emphasize this is the central differentiator of the proposal: AI augments, never replaces, clinical and coding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proof of concept as validation of the foundational layers of the pipeline — parsing, retrieval, question answering, and rule extraction. Be explicit that claim edit generation is a future capability, not built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actual demo flow: upload a policy PDF, ask a natural language question, and show how the system retrieves and cites the relevant policy section before answering.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a raw policy statement becomes a structured draft rule. Emphasize the JSON export and that every rule is explicitly intended for human analyst review — not automatic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 — be very clear about what is implemented today versus what remains a future capability. Transparency here builds credibility with technical reviewers.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three takeaways stated clearly and confidently. Reinforce the central theme: AI eliminates repetitive work, not professional judgment. Thank the reviewers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10" Type="http://schemas.openxmlformats.org/officeDocument/2006/relationships/image" Target="../media/image25.png"/><Relationship Id="rId4" Type="http://schemas.openxmlformats.org/officeDocument/2006/relationships/image" Target="../media/image18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828800"/>
            <a:ext cx="6400800" cy="6400800"/>
          </a:xfrm>
          <a:prstGeom prst="ellipse">
            <a:avLst/>
          </a:prstGeom>
          <a:solidFill>
            <a:srgbClr val="2F80E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657600"/>
            <a:ext cx="4572000" cy="4572000"/>
          </a:xfrm>
          <a:prstGeom prst="ellipse">
            <a:avLst/>
          </a:prstGeom>
          <a:solidFill>
            <a:srgbClr val="2F80ED">
              <a:alpha val="8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772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 ·  GENERATIVE AI INTERNSHIP ASSESSMENT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6517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Policy Intelligence Assistant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i="1" dirty="0">
                <a:solidFill>
                  <a:srgbClr val="CF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Healthcare Content Management for Treatment, Payment &amp; Operations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900" dirty="0">
                <a:solidFill>
                  <a:schemeClr val="bg1"/>
                </a:solidFill>
              </a:rPr>
              <a:t>Shubham Suryakant Patil</a:t>
            </a:r>
          </a:p>
        </p:txBody>
      </p:sp>
      <p:sp>
        <p:nvSpPr>
          <p:cNvPr id="8" name="Text 5"/>
          <p:cNvSpPr/>
          <p:nvPr/>
        </p:nvSpPr>
        <p:spPr>
          <a:xfrm>
            <a:off x="822960" y="5349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22960" y="5897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0" y="5349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114800" y="5897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06640" y="5349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406640" y="5897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Healthcare Content Management?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clinical and financial decision is governed by dense, constantly evolving documentation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057400"/>
            <a:ext cx="640080" cy="640080"/>
          </a:xfrm>
          <a:prstGeom prst="ellipse">
            <a:avLst/>
          </a:prstGeom>
          <a:solidFill>
            <a:srgbClr val="0F4C8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204" y="22037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346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Coding Policies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ICD-10, CPT, HCPCS rules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55848" y="178308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3108" y="2057400"/>
            <a:ext cx="640080" cy="640080"/>
          </a:xfrm>
          <a:prstGeom prst="ellipse">
            <a:avLst/>
          </a:prstGeom>
          <a:solidFill>
            <a:srgbClr val="0F4C8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412" y="220370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3008" y="28346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Guidelines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93008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care pathways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0216" y="1772138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00316" y="2057400"/>
            <a:ext cx="640080" cy="640080"/>
          </a:xfrm>
          <a:prstGeom prst="ellipse">
            <a:avLst/>
          </a:prstGeom>
          <a:solidFill>
            <a:srgbClr val="0F4C8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0" y="220370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0216" y="28346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Payer-Provider Contracts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00216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Reimbursement &amp; network terms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970264" y="178308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07524" y="2057400"/>
            <a:ext cx="640080" cy="640080"/>
          </a:xfrm>
          <a:prstGeom prst="ellipse">
            <a:avLst/>
          </a:prstGeom>
          <a:solidFill>
            <a:srgbClr val="0F4C8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3828" y="220370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07424" y="28346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Regulations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107424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coverage determinations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069080"/>
            <a:ext cx="11064240" cy="1965960"/>
          </a:xfrm>
          <a:prstGeom prst="roundRect">
            <a:avLst>
              <a:gd name="adj" fmla="val 5581"/>
            </a:avLst>
          </a:prstGeom>
          <a:solidFill>
            <a:srgbClr val="0F4C81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" y="42793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Difficult to Manage</a:t>
            </a:r>
            <a:endParaRPr lang="en-US" sz="16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84632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8188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Velocity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417320" y="51389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revisions yearly</a:t>
            </a:r>
            <a:endParaRPr lang="en-US" sz="105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560" y="4846320"/>
            <a:ext cx="365760" cy="36576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983480" y="48188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Language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4983480" y="51389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legal &amp; clinical text</a:t>
            </a:r>
            <a:endParaRPr lang="en-US" sz="105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6720" y="4846320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549640" y="48188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8549640" y="51389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by payer &amp; jurisdiction</a:t>
            </a:r>
            <a:endParaRPr lang="en-US" sz="1050" dirty="0"/>
          </a:p>
        </p:txBody>
      </p:sp>
      <p:sp>
        <p:nvSpPr>
          <p:cNvPr id="35" name="Text 2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Generative AI Internship Assessment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38" name="Graphic 37" descr="Money">
            <a:extLst>
              <a:ext uri="{FF2B5EF4-FFF2-40B4-BE49-F238E27FC236}">
                <a16:creationId xmlns:a16="http://schemas.microsoft.com/office/drawing/2014/main" id="{4ACE77B1-8809-AB50-224B-26FBB37B1A6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48740" y="1892808"/>
            <a:ext cx="914400" cy="914400"/>
          </a:xfrm>
          <a:prstGeom prst="rect">
            <a:avLst/>
          </a:prstGeom>
        </p:spPr>
      </p:pic>
      <p:pic>
        <p:nvPicPr>
          <p:cNvPr id="40" name="Graphic 39" descr="Doctor">
            <a:extLst>
              <a:ext uri="{FF2B5EF4-FFF2-40B4-BE49-F238E27FC236}">
                <a16:creationId xmlns:a16="http://schemas.microsoft.com/office/drawing/2014/main" id="{7095CFD6-14BD-6BD3-96CB-0E76E0A5BBA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55948" y="1902812"/>
            <a:ext cx="914400" cy="914400"/>
          </a:xfrm>
          <a:prstGeom prst="rect">
            <a:avLst/>
          </a:prstGeom>
        </p:spPr>
      </p:pic>
      <p:pic>
        <p:nvPicPr>
          <p:cNvPr id="42" name="Graphic 41" descr="Contract RTL">
            <a:extLst>
              <a:ext uri="{FF2B5EF4-FFF2-40B4-BE49-F238E27FC236}">
                <a16:creationId xmlns:a16="http://schemas.microsoft.com/office/drawing/2014/main" id="{642F077B-4680-8A99-5217-53266262705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72300" y="1920240"/>
            <a:ext cx="914400" cy="914400"/>
          </a:xfrm>
          <a:prstGeom prst="rect">
            <a:avLst/>
          </a:prstGeom>
        </p:spPr>
      </p:pic>
      <p:pic>
        <p:nvPicPr>
          <p:cNvPr id="44" name="Graphic 43" descr="Checklist RTL">
            <a:extLst>
              <a:ext uri="{FF2B5EF4-FFF2-40B4-BE49-F238E27FC236}">
                <a16:creationId xmlns:a16="http://schemas.microsoft.com/office/drawing/2014/main" id="{F9CD78A2-FE0A-758B-C0E3-93F19C4D92A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791700" y="1902812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Trends Reshaping Policy Management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converging forces are making AI-driven content management viable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3749040"/>
          </a:xfrm>
          <a:prstGeom prst="roundRect">
            <a:avLst>
              <a:gd name="adj" fmla="val 4364"/>
            </a:avLst>
          </a:prstGeom>
          <a:solidFill>
            <a:srgbClr val="0F4C81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8468" y="2103120"/>
            <a:ext cx="694944" cy="694944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0" y="22677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06324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3931920"/>
            <a:ext cx="21122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CF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match expert-level performance on medical summarization tasks.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55848" y="1783080"/>
            <a:ext cx="2514600" cy="3749040"/>
          </a:xfrm>
          <a:prstGeom prst="roundRect">
            <a:avLst>
              <a:gd name="adj" fmla="val 4364"/>
            </a:avLst>
          </a:prstGeom>
          <a:solidFill>
            <a:srgbClr val="0F4C81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65676" y="2103120"/>
            <a:ext cx="694944" cy="694944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226771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06324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</a:t>
            </a:r>
            <a:endParaRPr lang="en-US" sz="14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(RAG)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57016" y="3931920"/>
            <a:ext cx="21122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CF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AI answers in verifiable, citable source documents.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63056" y="1783080"/>
            <a:ext cx="2514600" cy="3749040"/>
          </a:xfrm>
          <a:prstGeom prst="roundRect">
            <a:avLst>
              <a:gd name="adj" fmla="val 4364"/>
            </a:avLst>
          </a:prstGeom>
          <a:solidFill>
            <a:srgbClr val="0F4C81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72884" y="2103120"/>
            <a:ext cx="694944" cy="694944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7476" y="226771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7648" y="306324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Rule Extraction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64224" y="3931920"/>
            <a:ext cx="21122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CF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narrative policy text into structured, executable logic.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70264" y="1783080"/>
            <a:ext cx="2514600" cy="3749040"/>
          </a:xfrm>
          <a:prstGeom prst="roundRect">
            <a:avLst>
              <a:gd name="adj" fmla="val 4364"/>
            </a:avLst>
          </a:prstGeom>
          <a:solidFill>
            <a:srgbClr val="0F4C81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80092" y="2103120"/>
            <a:ext cx="694944" cy="694944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4684" y="226771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34856" y="306324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71432" y="3931920"/>
            <a:ext cx="21122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CF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trails and human oversight ensure compliant, trustworthy use.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Generative AI Internship Assessment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&amp; Challenges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upside, balanced by risks that must be actively managed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F4F6F8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574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0391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71576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6974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policy review &amp; summarization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493008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34747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payment integrity &amp; accuracy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70248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80160" y="425196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administrative effort</a:t>
            </a:r>
            <a:endParaRPr lang="en-US" sz="13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047488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80160" y="5029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knowledge management</a:t>
            </a:r>
            <a:endParaRPr lang="en-US" sz="1350" dirty="0"/>
          </a:p>
        </p:txBody>
      </p:sp>
      <p:sp>
        <p:nvSpPr>
          <p:cNvPr id="15" name="Shape 8"/>
          <p:cNvSpPr/>
          <p:nvPr/>
        </p:nvSpPr>
        <p:spPr>
          <a:xfrm>
            <a:off x="6190488" y="178308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0F4C81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2057400"/>
            <a:ext cx="365760" cy="36576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967728" y="20391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18" name="Shape 10"/>
          <p:cNvSpPr/>
          <p:nvPr/>
        </p:nvSpPr>
        <p:spPr>
          <a:xfrm>
            <a:off x="6510528" y="2734056"/>
            <a:ext cx="237744" cy="237744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19" name="Text 11"/>
          <p:cNvSpPr/>
          <p:nvPr/>
        </p:nvSpPr>
        <p:spPr>
          <a:xfrm>
            <a:off x="6922008" y="26974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&amp; output reliability risk</a:t>
            </a:r>
            <a:endParaRPr lang="en-US" sz="1350" dirty="0"/>
          </a:p>
        </p:txBody>
      </p:sp>
      <p:sp>
        <p:nvSpPr>
          <p:cNvPr id="20" name="Shape 12"/>
          <p:cNvSpPr/>
          <p:nvPr/>
        </p:nvSpPr>
        <p:spPr>
          <a:xfrm>
            <a:off x="6510528" y="3511296"/>
            <a:ext cx="237744" cy="237744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21" name="Text 13"/>
          <p:cNvSpPr/>
          <p:nvPr/>
        </p:nvSpPr>
        <p:spPr>
          <a:xfrm>
            <a:off x="6922008" y="34747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PHI protection (HIPAA)</a:t>
            </a:r>
            <a:endParaRPr lang="en-US" sz="1350" dirty="0"/>
          </a:p>
        </p:txBody>
      </p:sp>
      <p:sp>
        <p:nvSpPr>
          <p:cNvPr id="22" name="Shape 14"/>
          <p:cNvSpPr/>
          <p:nvPr/>
        </p:nvSpPr>
        <p:spPr>
          <a:xfrm>
            <a:off x="6510528" y="4288536"/>
            <a:ext cx="237744" cy="237744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23" name="Text 15"/>
          <p:cNvSpPr/>
          <p:nvPr/>
        </p:nvSpPr>
        <p:spPr>
          <a:xfrm>
            <a:off x="6922008" y="42519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auditability requirements</a:t>
            </a:r>
            <a:endParaRPr lang="en-US" sz="1350" dirty="0"/>
          </a:p>
        </p:txBody>
      </p:sp>
      <p:sp>
        <p:nvSpPr>
          <p:cNvPr id="24" name="Shape 16"/>
          <p:cNvSpPr/>
          <p:nvPr/>
        </p:nvSpPr>
        <p:spPr>
          <a:xfrm>
            <a:off x="6510528" y="5065776"/>
            <a:ext cx="237744" cy="237744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25" name="Text 17"/>
          <p:cNvSpPr/>
          <p:nvPr/>
        </p:nvSpPr>
        <p:spPr>
          <a:xfrm>
            <a:off x="6922008" y="5029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policy updates require maintenance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Generative AI Internship Assessment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an AI-Assisted Policy-to-Edit Pipeline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31724" y="196596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0F4C81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360" y="213055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7444" y="256946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150212" y="196596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0F4C81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6848" y="213055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195932" y="256946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768700" y="196596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0F4C81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5336" y="2130552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14420" y="256946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387188" y="196596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0F4C81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3824" y="2130552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32908" y="256946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7005676" y="196596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2F80ED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2312" y="2130552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051396" y="256946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8624164" y="196596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0F4C81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0800" y="2130552"/>
            <a:ext cx="384048" cy="38404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669884" y="256946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Edit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50" dirty="0"/>
          </a:p>
        </p:txBody>
      </p:sp>
      <p:sp>
        <p:nvSpPr>
          <p:cNvPr id="22" name="Shape 14"/>
          <p:cNvSpPr/>
          <p:nvPr/>
        </p:nvSpPr>
        <p:spPr>
          <a:xfrm>
            <a:off x="10242652" y="196596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0F4C81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59288" y="2130552"/>
            <a:ext cx="384048" cy="38404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288372" y="256946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050" dirty="0"/>
          </a:p>
        </p:txBody>
      </p:sp>
      <p:sp>
        <p:nvSpPr>
          <p:cNvPr id="25" name="Shape 16"/>
          <p:cNvSpPr/>
          <p:nvPr/>
        </p:nvSpPr>
        <p:spPr>
          <a:xfrm>
            <a:off x="1967332" y="2519172"/>
            <a:ext cx="164592" cy="128016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6" name="Shape 17"/>
          <p:cNvSpPr/>
          <p:nvPr/>
        </p:nvSpPr>
        <p:spPr>
          <a:xfrm>
            <a:off x="3585820" y="2519172"/>
            <a:ext cx="164592" cy="128016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7" name="Shape 18"/>
          <p:cNvSpPr/>
          <p:nvPr/>
        </p:nvSpPr>
        <p:spPr>
          <a:xfrm>
            <a:off x="5204308" y="2519172"/>
            <a:ext cx="164592" cy="128016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8" name="Shape 19"/>
          <p:cNvSpPr/>
          <p:nvPr/>
        </p:nvSpPr>
        <p:spPr>
          <a:xfrm>
            <a:off x="6822796" y="2519172"/>
            <a:ext cx="164592" cy="128016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9" name="Shape 20"/>
          <p:cNvSpPr/>
          <p:nvPr/>
        </p:nvSpPr>
        <p:spPr>
          <a:xfrm>
            <a:off x="8441284" y="2519172"/>
            <a:ext cx="164592" cy="128016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30" name="Shape 21"/>
          <p:cNvSpPr/>
          <p:nvPr/>
        </p:nvSpPr>
        <p:spPr>
          <a:xfrm>
            <a:off x="10059772" y="2519172"/>
            <a:ext cx="164592" cy="128016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31" name="Shape 22"/>
          <p:cNvSpPr/>
          <p:nvPr/>
        </p:nvSpPr>
        <p:spPr>
          <a:xfrm>
            <a:off x="548640" y="3703320"/>
            <a:ext cx="11064240" cy="233172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3977640"/>
            <a:ext cx="502920" cy="50292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554480" y="395020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Should Not Replace Healthcare Professionals</a:t>
            </a:r>
            <a:endParaRPr lang="en-US" sz="1700" dirty="0"/>
          </a:p>
        </p:txBody>
      </p:sp>
      <p:sp>
        <p:nvSpPr>
          <p:cNvPr id="34" name="Text 24"/>
          <p:cNvSpPr/>
          <p:nvPr/>
        </p:nvSpPr>
        <p:spPr>
          <a:xfrm>
            <a:off x="1554480" y="44348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should eliminate repetitive document interpretation — reading, summarizing, and drafting candidate rules — while leaving every final coverage and payment decision in the hands of clinical experts. Human reviewers remain the approval gate before any rule reaches production.</a:t>
            </a:r>
            <a:endParaRPr lang="en-US" sz="1300" dirty="0"/>
          </a:p>
        </p:txBody>
      </p:sp>
      <p:sp>
        <p:nvSpPr>
          <p:cNvPr id="35" name="Text 2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Generative AI Internship Assessment</a:t>
            </a:r>
            <a:endParaRPr lang="en-US" sz="900" dirty="0"/>
          </a:p>
        </p:txBody>
      </p:sp>
      <p:sp>
        <p:nvSpPr>
          <p:cNvPr id="36" name="Text 26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demonstrating the foundational capabilities of the strategy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9448" y="219456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F4C81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092" y="2395728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5168" y="290779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246224" y="2807208"/>
            <a:ext cx="201168" cy="146304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8" name="Shape 5"/>
          <p:cNvSpPr/>
          <p:nvPr/>
        </p:nvSpPr>
        <p:spPr>
          <a:xfrm>
            <a:off x="2483968" y="219456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F4C81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4612" y="2395728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29688" y="290779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120744" y="2807208"/>
            <a:ext cx="201168" cy="146304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2" name="Shape 8"/>
          <p:cNvSpPr/>
          <p:nvPr/>
        </p:nvSpPr>
        <p:spPr>
          <a:xfrm>
            <a:off x="4358488" y="219456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F4C81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132" y="2395728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04208" y="290779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995264" y="2807208"/>
            <a:ext cx="201168" cy="146304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6" name="Shape 11"/>
          <p:cNvSpPr/>
          <p:nvPr/>
        </p:nvSpPr>
        <p:spPr>
          <a:xfrm>
            <a:off x="6233008" y="219456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F4C81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3652" y="2395728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78728" y="290779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7869784" y="2807208"/>
            <a:ext cx="201168" cy="146304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0" name="Shape 14"/>
          <p:cNvSpPr/>
          <p:nvPr/>
        </p:nvSpPr>
        <p:spPr>
          <a:xfrm>
            <a:off x="8107528" y="219456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0F4C81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8172" y="2395728"/>
            <a:ext cx="438912" cy="4389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153248" y="290779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9744304" y="2807208"/>
            <a:ext cx="201168" cy="146304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4" name="Shape 17"/>
          <p:cNvSpPr/>
          <p:nvPr/>
        </p:nvSpPr>
        <p:spPr>
          <a:xfrm>
            <a:off x="9982048" y="2194560"/>
            <a:ext cx="1600200" cy="137160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5875">
            <a:solidFill>
              <a:srgbClr val="64748B"/>
            </a:solidFill>
            <a:prstDash val="dash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2692" y="2395728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027768" y="290779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Edit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609448" y="388620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F4C81"/>
          </a:solidFill>
          <a:ln/>
        </p:spPr>
      </p:sp>
      <p:sp>
        <p:nvSpPr>
          <p:cNvPr id="28" name="Text 20"/>
          <p:cNvSpPr/>
          <p:nvPr/>
        </p:nvSpPr>
        <p:spPr>
          <a:xfrm>
            <a:off x="929488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 Prototype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3626968" y="388620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F4F6F8"/>
          </a:solidFill>
          <a:ln w="15875">
            <a:solidFill>
              <a:srgbClr val="64748B"/>
            </a:solidFill>
            <a:prstDash val="dash"/>
          </a:ln>
        </p:spPr>
      </p:sp>
      <p:sp>
        <p:nvSpPr>
          <p:cNvPr id="30" name="Text 22"/>
          <p:cNvSpPr/>
          <p:nvPr/>
        </p:nvSpPr>
        <p:spPr>
          <a:xfrm>
            <a:off x="3947008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Strategic Capability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47162" y="5049323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0F4C81"/>
          </a:solidFill>
          <a:ln/>
        </p:spPr>
      </p:sp>
      <p:sp>
        <p:nvSpPr>
          <p:cNvPr id="32" name="Text 24"/>
          <p:cNvSpPr/>
          <p:nvPr/>
        </p:nvSpPr>
        <p:spPr>
          <a:xfrm>
            <a:off x="914400" y="5212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2525277" y="53492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/>
        </p:spPr>
      </p:sp>
      <p:sp>
        <p:nvSpPr>
          <p:cNvPr id="34" name="Text 26"/>
          <p:cNvSpPr/>
          <p:nvPr/>
        </p:nvSpPr>
        <p:spPr>
          <a:xfrm>
            <a:off x="2562500" y="5342597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4321912" y="5333804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/>
        </p:spPr>
      </p:sp>
      <p:sp>
        <p:nvSpPr>
          <p:cNvPr id="36" name="Text 28"/>
          <p:cNvSpPr/>
          <p:nvPr/>
        </p:nvSpPr>
        <p:spPr>
          <a:xfrm>
            <a:off x="4435978" y="53109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6233008" y="5323643"/>
            <a:ext cx="1691640" cy="457200"/>
          </a:xfrm>
          <a:prstGeom prst="roundRect">
            <a:avLst>
              <a:gd name="adj" fmla="val 48290"/>
            </a:avLst>
          </a:prstGeom>
          <a:solidFill>
            <a:srgbClr val="2F80E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8" name="Text 30"/>
          <p:cNvSpPr/>
          <p:nvPr/>
        </p:nvSpPr>
        <p:spPr>
          <a:xfrm>
            <a:off x="6178450" y="5295704"/>
            <a:ext cx="16916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8107528" y="5342597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/>
        </p:spPr>
      </p:sp>
      <p:sp>
        <p:nvSpPr>
          <p:cNvPr id="40" name="Text 32"/>
          <p:cNvSpPr/>
          <p:nvPr/>
        </p:nvSpPr>
        <p:spPr>
          <a:xfrm>
            <a:off x="8126998" y="53109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Retrieval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9919200" y="53492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/>
        </p:spPr>
      </p:sp>
      <p:sp>
        <p:nvSpPr>
          <p:cNvPr id="42" name="Text 34"/>
          <p:cNvSpPr/>
          <p:nvPr/>
        </p:nvSpPr>
        <p:spPr>
          <a:xfrm>
            <a:off x="9939300" y="53185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Export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Generative AI Internship Assessment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1: Policy Question Answering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natural-language questions and receive evidence-backed answers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949440" cy="4480560"/>
          </a:xfrm>
          <a:prstGeom prst="roundRect">
            <a:avLst>
              <a:gd name="adj" fmla="val 2041"/>
            </a:avLst>
          </a:prstGeom>
          <a:solidFill>
            <a:srgbClr val="F4F6F8"/>
          </a:solidFill>
          <a:ln w="12700">
            <a:solidFill>
              <a:srgbClr val="D6DCE3"/>
            </a:solidFill>
            <a:prstDash val="solid"/>
          </a:ln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2918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1605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Policy Q&amp;A Interface ]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726680" y="1691640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1810512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66760" y="16642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Policy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366760" y="198424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a healthcare policy PDF document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726680" y="2770632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2" y="2889504"/>
            <a:ext cx="265176" cy="2651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66760" y="2743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366760" y="30632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natural-language question about coverage or rules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7726680" y="3849624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5552" y="3968496"/>
            <a:ext cx="265176" cy="26517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66760" y="38221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Evidence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8366760" y="414223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retrieves the most relevant policy sections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726680" y="4928616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5552" y="5047488"/>
            <a:ext cx="265176" cy="26517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366760" y="490118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Answer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8366760" y="522122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generated with direct source citations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Generative AI Internship Assessment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43277F1-FE2C-3332-9D2B-5432F3F1E2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1609344"/>
            <a:ext cx="6918960" cy="44714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2: Rule Extraction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policy statements into structured, analyst-reviewable draft rules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949440" cy="2788920"/>
          </a:xfrm>
          <a:prstGeom prst="roundRect">
            <a:avLst>
              <a:gd name="adj" fmla="val 3279"/>
            </a:avLst>
          </a:prstGeom>
          <a:solidFill>
            <a:srgbClr val="F4F6F8"/>
          </a:solidFill>
          <a:ln w="12700">
            <a:solidFill>
              <a:srgbClr val="D6DCE3"/>
            </a:solidFill>
            <a:prstDash val="solid"/>
          </a:ln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6060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7033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4572000"/>
            <a:ext cx="1508760" cy="1143000"/>
          </a:xfrm>
          <a:prstGeom prst="roundRect">
            <a:avLst>
              <a:gd name="adj" fmla="val 8000"/>
            </a:avLst>
          </a:prstGeom>
          <a:solidFill>
            <a:srgbClr val="0F4C81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" y="471830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51206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075688" y="5079492"/>
            <a:ext cx="192024" cy="128016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1" name="Shape 7"/>
          <p:cNvSpPr/>
          <p:nvPr/>
        </p:nvSpPr>
        <p:spPr>
          <a:xfrm>
            <a:off x="2286000" y="4572000"/>
            <a:ext cx="1508760" cy="1143000"/>
          </a:xfrm>
          <a:prstGeom prst="roundRect">
            <a:avLst>
              <a:gd name="adj" fmla="val 8000"/>
            </a:avLst>
          </a:prstGeom>
          <a:solidFill>
            <a:srgbClr val="0F4C81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6644" y="4718304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331720" y="51206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Rule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3813048" y="5079492"/>
            <a:ext cx="192024" cy="128016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5" name="Shape 10"/>
          <p:cNvSpPr/>
          <p:nvPr/>
        </p:nvSpPr>
        <p:spPr>
          <a:xfrm>
            <a:off x="4023360" y="4572000"/>
            <a:ext cx="1508760" cy="1143000"/>
          </a:xfrm>
          <a:prstGeom prst="roundRect">
            <a:avLst>
              <a:gd name="adj" fmla="val 8000"/>
            </a:avLst>
          </a:prstGeom>
          <a:solidFill>
            <a:srgbClr val="0F4C81"/>
          </a:solidFill>
          <a:ln/>
          <a:effectLst>
            <a:outerShdw blurRad="127000" dist="381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4004" y="4718304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69080" y="51206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5550408" y="5079492"/>
            <a:ext cx="192024" cy="128016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9" name="Shape 13"/>
          <p:cNvSpPr/>
          <p:nvPr/>
        </p:nvSpPr>
        <p:spPr>
          <a:xfrm>
            <a:off x="5760720" y="4572000"/>
            <a:ext cx="150876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5875">
            <a:solidFill>
              <a:srgbClr val="64748B"/>
            </a:solidFill>
            <a:prstDash val="dash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1364" y="4718304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806440" y="51206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Claim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7726680" y="1600200"/>
            <a:ext cx="3886200" cy="4114800"/>
          </a:xfrm>
          <a:prstGeom prst="roundRect">
            <a:avLst>
              <a:gd name="adj" fmla="val 2824"/>
            </a:avLst>
          </a:prstGeom>
          <a:solidFill>
            <a:srgbClr val="0F4C81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1874520"/>
            <a:ext cx="411480" cy="411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046720" y="23957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8046720" y="283464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parses raw policy text and identifies condition-action statements — for example, coverage criteria tied to diagnosis codes or frequency limits.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converted into structured draft rules in a standard if/then format, exported as JSON for downstream review.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extracted rule is explicitly intended for analyst review before adoption — not automatic deployment.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Generative AI Internship Assessment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DFD8A4B-4057-0D45-E869-39112B2959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1371600"/>
            <a:ext cx="694944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Alignment to Strategic Vision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validates the foundational steps of the full pipeline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401568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Strategic Vision</a:t>
                      </a:r>
                      <a:endParaRPr lang="en-US" sz="1300" dirty="0"/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Prototype Capability</a:t>
                      </a:r>
                      <a:endParaRPr lang="en-US" sz="1300" dirty="0"/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Policy Parsing</a:t>
                      </a:r>
                      <a:endParaRPr lang="en-US" sz="1250" dirty="0"/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PDF ingestion &amp; text extraction (PyMuPDF)</a:t>
                      </a:r>
                      <a:endParaRPr lang="en-US" sz="1250" dirty="0"/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9C6E"/>
                          </a:solidFill>
                        </a:rPr>
                        <a:t>Implemented</a:t>
                      </a:r>
                      <a:endParaRPr lang="en-US" sz="1150" dirty="0"/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Question Answering</a:t>
                      </a:r>
                      <a:endParaRPr lang="en-US" sz="1250" dirty="0"/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TF-IDF semantic retrieval + evidence-backed answers</a:t>
                      </a:r>
                      <a:endParaRPr lang="en-US" sz="1250" dirty="0"/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9C6E"/>
                          </a:solidFill>
                        </a:rPr>
                        <a:t>Implemented</a:t>
                      </a:r>
                      <a:endParaRPr lang="en-US" sz="1150" dirty="0"/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Rule Extraction</a:t>
                      </a:r>
                      <a:endParaRPr lang="en-US" sz="1250" dirty="0"/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Structured draft rule generation with JSON export</a:t>
                      </a:r>
                      <a:endParaRPr lang="en-US" sz="1250" dirty="0"/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9C6E"/>
                          </a:solidFill>
                        </a:rPr>
                        <a:t>Implemented</a:t>
                      </a:r>
                      <a:endParaRPr lang="en-US" sz="1150" dirty="0"/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Human Review</a:t>
                      </a:r>
                      <a:endParaRPr lang="en-US" sz="1250" dirty="0"/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Manual analyst review workflow integration</a:t>
                      </a:r>
                      <a:endParaRPr lang="en-US" sz="1250" dirty="0"/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9870C"/>
                          </a:solidFill>
                        </a:rPr>
                        <a:t>Future</a:t>
                      </a:r>
                      <a:endParaRPr lang="en-US" sz="1150" dirty="0"/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Claim Edit Generation</a:t>
                      </a:r>
                      <a:endParaRPr lang="en-US" sz="1250" dirty="0"/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Production claim editing engine integration</a:t>
                      </a:r>
                      <a:endParaRPr lang="en-US" sz="1250" dirty="0"/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9870C"/>
                          </a:solidFill>
                        </a:rPr>
                        <a:t>Future</a:t>
                      </a:r>
                      <a:endParaRPr lang="en-US" sz="1150" dirty="0"/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532120"/>
            <a:ext cx="201168" cy="201168"/>
          </a:xfrm>
          <a:prstGeom prst="ellipse">
            <a:avLst/>
          </a:prstGeom>
          <a:solidFill>
            <a:srgbClr val="1B9C6E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 prototype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749040" y="5532120"/>
            <a:ext cx="201168" cy="201168"/>
          </a:xfrm>
          <a:prstGeom prst="ellipse">
            <a:avLst/>
          </a:prstGeom>
          <a:solidFill>
            <a:srgbClr val="C9870C"/>
          </a:solidFill>
          <a:ln/>
        </p:spPr>
      </p:sp>
      <p:sp>
        <p:nvSpPr>
          <p:cNvPr id="8" name="Text 5"/>
          <p:cNvSpPr/>
          <p:nvPr/>
        </p:nvSpPr>
        <p:spPr>
          <a:xfrm>
            <a:off x="402336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strategic capability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Generative AI Internship Assessment</a:t>
            </a:r>
            <a:endParaRPr lang="en-US" sz="900" dirty="0"/>
          </a:p>
        </p:txBody>
      </p:sp>
      <p:sp>
        <p:nvSpPr>
          <p:cNvPr id="4" name="Text 7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5486400" cy="5486400"/>
          </a:xfrm>
          <a:prstGeom prst="ellipse">
            <a:avLst/>
          </a:prstGeom>
          <a:solidFill>
            <a:srgbClr val="2F80E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200400"/>
            <a:ext cx="5486400" cy="5486400"/>
          </a:xfrm>
          <a:prstGeom prst="ellipse">
            <a:avLst/>
          </a:prstGeom>
          <a:solidFill>
            <a:srgbClr val="2F80ED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2F80ED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801368"/>
            <a:ext cx="457200" cy="457200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191109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160020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substantially reduce manual healthcare policy review burden.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22960" y="265176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2F80ED">
              <a:alpha val="12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097280" y="2852928"/>
            <a:ext cx="457200" cy="457200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296265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2651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strategy directly aligns with Cotiviti's payment integrity mission.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22960" y="370332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2F80ED">
              <a:alpha val="12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1097280" y="3904488"/>
            <a:ext cx="457200" cy="457200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008" y="401421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8800" y="370332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proves foundational capabilities that can evolve into enterprise-scale policy automation.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985</Words>
  <Application>Microsoft Office PowerPoint</Application>
  <PresentationFormat>Widescreen</PresentationFormat>
  <Paragraphs>175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Policy Intelligence Assistant</dc:title>
  <dc:subject>PptxGenJS Presentation</dc:subject>
  <dc:creator>Cotiviti GenAI Internship Candidate</dc:creator>
  <cp:lastModifiedBy>Shubham Patil</cp:lastModifiedBy>
  <cp:revision>3</cp:revision>
  <dcterms:created xsi:type="dcterms:W3CDTF">2026-06-30T07:44:16Z</dcterms:created>
  <dcterms:modified xsi:type="dcterms:W3CDTF">2026-06-30T08:16:06Z</dcterms:modified>
</cp:coreProperties>
</file>